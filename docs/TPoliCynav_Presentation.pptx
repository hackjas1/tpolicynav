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645920"/>
            <a:ext cx="109728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Development of an AI-Driven Retrieval-Augmented Generation</a:t>
            </a:r>
            <a:br/>
            <a:r>
              <a:t>Conversational Agent for Institutional Policy Navigation</a:t>
            </a:r>
            <a:br/>
            <a:r>
              <a:t>at Talibon Polytechnic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BEAFE"/>
                </a:solidFill>
                <a:latin typeface="Arial"/>
              </a:defRPr>
            </a:pPr>
            <a:r>
              <a:t>TPoliCynav: The TPC Policy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73152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Arial"/>
              </a:defRPr>
            </a:pPr>
            <a:r>
              <a:rPr dirty="0"/>
              <a:t>TEAM KUYS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Eduardo </a:t>
            </a:r>
            <a:r>
              <a:rPr sz="1400" dirty="0" err="1"/>
              <a:t>Avenido</a:t>
            </a:r>
            <a:r>
              <a:rPr sz="1400" dirty="0"/>
              <a:t> Jr.  •  Christian Paul La</a:t>
            </a:r>
            <a:r>
              <a:rPr lang="en-US" sz="1400" dirty="0"/>
              <a:t> R</a:t>
            </a:r>
            <a:r>
              <a:rPr sz="1400" dirty="0"/>
              <a:t>osa  •  </a:t>
            </a:r>
            <a:r>
              <a:rPr sz="1400" dirty="0" err="1"/>
              <a:t>Nielbert</a:t>
            </a:r>
            <a:r>
              <a:rPr sz="1400" dirty="0"/>
              <a:t> Garcia  •  Marcel </a:t>
            </a:r>
            <a:r>
              <a:rPr sz="1400" dirty="0" err="1"/>
              <a:t>Avergonzado</a:t>
            </a:r>
            <a:endParaRPr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IS Professional Elective #4 — Generative AI Systems  |  1st Semester, A.Y. 2026–2027  |  Instructor: Jessie A. Melendres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rial"/>
              </a:defRPr>
            </a:pPr>
            <a:r>
              <a:t>The Challenge</a:t>
            </a:r>
          </a:p>
          <a:p>
            <a:pPr>
              <a:spcBef>
                <a:spcPts val="400"/>
              </a:spcBef>
              <a:defRPr sz="1600">
                <a:solidFill>
                  <a:srgbClr val="374151"/>
                </a:solidFill>
                <a:latin typeface="Arial"/>
              </a:defRPr>
            </a:pPr>
            <a:r>
              <a:t>~4,900 TPC students must navigate 199+ pages of institutional policies across multiple documents</a:t>
            </a:r>
          </a:p>
          <a:p>
            <a:pPr>
              <a:spcBef>
                <a:spcPts val="400"/>
              </a:spcBef>
              <a:defRPr sz="1600">
                <a:solidFill>
                  <a:srgbClr val="374151"/>
                </a:solidFill>
                <a:latin typeface="Arial"/>
              </a:defRPr>
            </a:pPr>
            <a:r>
              <a:t>Traditional keyword search cannot match semantic intent (e.g., 'torn pants' ≠ 'ripped jeans')</a:t>
            </a:r>
          </a:p>
          <a:p>
            <a:pPr>
              <a:spcBef>
                <a:spcPts val="400"/>
              </a:spcBef>
              <a:defRPr sz="1600">
                <a:solidFill>
                  <a:srgbClr val="374151"/>
                </a:solidFill>
                <a:latin typeface="Arial"/>
              </a:defRPr>
            </a:pPr>
            <a:r>
              <a:t>Students risk disciplinary infractions or enrollment delays from misunderstood rules</a:t>
            </a:r>
          </a:p>
          <a:p>
            <a:pPr>
              <a:spcBef>
                <a:spcPts val="600"/>
              </a:spcBef>
              <a:defRPr sz="800" b="0">
                <a:solidFill>
                  <a:srgbClr val="374151"/>
                </a:solidFill>
                <a:latin typeface="Arial"/>
              </a:defRPr>
            </a:pPr>
            <a:endParaRPr/>
          </a:p>
          <a:p>
            <a:pPr>
              <a:spcBef>
                <a:spcPts val="2000"/>
              </a:spcBef>
              <a:defRPr sz="1800" b="1">
                <a:solidFill>
                  <a:srgbClr val="2563EB"/>
                </a:solidFill>
                <a:latin typeface="Arial"/>
              </a:defRPr>
            </a:pPr>
            <a:r>
              <a:t>The Solution</a:t>
            </a:r>
          </a:p>
          <a:p>
            <a:pPr>
              <a:spcBef>
                <a:spcPts val="400"/>
              </a:spcBef>
              <a:defRPr sz="1600">
                <a:solidFill>
                  <a:srgbClr val="374151"/>
                </a:solidFill>
                <a:latin typeface="Arial"/>
              </a:defRPr>
            </a:pPr>
            <a:r>
              <a:t>AI conversational agent using Retrieval-Augmented Generation (RAG)</a:t>
            </a:r>
          </a:p>
          <a:p>
            <a:pPr>
              <a:spcBef>
                <a:spcPts val="400"/>
              </a:spcBef>
              <a:defRPr sz="1600">
                <a:solidFill>
                  <a:srgbClr val="374151"/>
                </a:solidFill>
                <a:latin typeface="Arial"/>
              </a:defRPr>
            </a:pPr>
            <a:r>
              <a:t>Semantic search bypasses keyword limitations — understands meaning, not just words</a:t>
            </a:r>
          </a:p>
          <a:p>
            <a:pPr>
              <a:spcBef>
                <a:spcPts val="400"/>
              </a:spcBef>
              <a:defRPr sz="1600">
                <a:solidFill>
                  <a:srgbClr val="374151"/>
                </a:solidFill>
                <a:latin typeface="Arial"/>
              </a:defRPr>
            </a:pPr>
            <a:r>
              <a:t>Strict anti-hallucination design ensures only verified policy content is returned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82880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rPr dirty="0"/>
              <a:t>📄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7 Documents</a:t>
            </a:r>
            <a:br>
              <a:rPr dirty="0"/>
            </a:br>
            <a:r>
              <a:rPr dirty="0"/>
              <a:t>(30+ pages)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7415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2286000"/>
            <a:ext cx="1828800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⚙️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Preprocessing</a:t>
            </a:r>
            <a:br/>
            <a:r>
              <a:t>4-Stage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7415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286000"/>
            <a:ext cx="1828800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🧮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Embeddings</a:t>
            </a:r>
            <a:br/>
            <a:r>
              <a:t>bge-small-en-v1.5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7415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2286000"/>
            <a:ext cx="1828800" cy="14630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☁️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Pinecone DB</a:t>
            </a:r>
            <a:br/>
            <a:r>
              <a:t>119 Vectors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7415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2286000"/>
            <a:ext cx="1828800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🤖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RAG Chatbot</a:t>
            </a:r>
            <a:br/>
            <a:r>
              <a:t>3 Prompt 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Arial"/>
              </a:defRPr>
            </a:pPr>
            <a:r>
              <a:t>Tech Stack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Embedding Model: BAAI/bge-small-en-v1.5 (384-dim, L2-normalized, MIT license)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Vector Database: Pinecone Serverless (AWS us-east-1, cosine metric)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Application: Python 3.11 CLI chatbot with real-time policy retrieval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  <a:latin typeface="Arial"/>
              </a:defRPr>
            </a:pPr>
            <a:r>
              <a:t>Checkpoint 1 —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Arial"/>
              </a:defRPr>
            </a:pPr>
            <a:r>
              <a:t>Data Sources (7 Documents)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TPC Student Handbook v.04 (199 pp.)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Municipal Ordinance No. 127 (curfew/boarding)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Uniform &amp; Dress Code Guide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PNP–TPC Security Protocols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CHED Free Education (RA 10931)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GSIS STEM Subsidy (GSSP)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Admissions &amp; TPCAT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Arial"/>
              </a:defRPr>
            </a:pPr>
            <a:r>
              <a:t>4-Stage Preprocessing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1. Noise Removal — regex strips page markers, rejoins hyphens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2. Unicode Normalization — NFKC, smart quotes → ASCII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3. Sentence Tokenization — NLTK punkt boundaries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4. Sliding-Window Chunking — 400 words, 80-word overlap</a:t>
            </a:r>
          </a:p>
          <a:p>
            <a:pPr>
              <a:spcBef>
                <a:spcPts val="600"/>
              </a:spcBef>
              <a:defRPr sz="600" b="0">
                <a:solidFill>
                  <a:srgbClr val="374151"/>
                </a:solidFill>
                <a:latin typeface="Arial"/>
              </a:defRPr>
            </a:pPr>
            <a:endParaRPr/>
          </a:p>
          <a:p>
            <a:pPr>
              <a:spcBef>
                <a:spcPts val="1400"/>
              </a:spcBef>
              <a:defRPr sz="1500" b="1">
                <a:solidFill>
                  <a:srgbClr val="16A34A"/>
                </a:solidFill>
                <a:latin typeface="Arial"/>
              </a:defRPr>
            </a:pPr>
            <a:r>
              <a:t>Result: 119 semantic chunks → 384-dim embeddings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  <a:latin typeface="Arial"/>
              </a:defRPr>
            </a:pPr>
            <a:r>
              <a:t>Checkpoint 2 — Prompt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2004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2004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Prompt 1</a:t>
            </a:r>
          </a:p>
          <a:p>
            <a:pPr>
              <a:spcBef>
                <a:spcPts val="400"/>
              </a:spcBef>
              <a:defRPr sz="1600" b="1">
                <a:solidFill>
                  <a:srgbClr val="1B365D"/>
                </a:solidFill>
                <a:latin typeface="Arial"/>
              </a:defRPr>
            </a:pPr>
            <a:r>
              <a:t>Strict Grounded Policy Assistant</a:t>
            </a:r>
          </a:p>
          <a:p>
            <a:pPr>
              <a:spcBef>
                <a:spcPts val="1000"/>
              </a:spcBef>
              <a:defRPr sz="1300" b="0">
                <a:solidFill>
                  <a:srgbClr val="374151"/>
                </a:solidFill>
                <a:latin typeface="Arial"/>
              </a:defRPr>
            </a:pPr>
            <a:r>
              <a:t>General campus rules, programs, ordinances.</a:t>
            </a:r>
            <a:br/>
            <a:r>
              <a:t>Forces context-only grounding + citation.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828800"/>
            <a:ext cx="32004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6240" y="1828800"/>
            <a:ext cx="3200400" cy="762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333EA"/>
                </a:solidFill>
                <a:latin typeface="Arial"/>
              </a:defRPr>
            </a:pPr>
            <a:r>
              <a:t>Prompt 2</a:t>
            </a:r>
          </a:p>
          <a:p>
            <a:pPr>
              <a:spcBef>
                <a:spcPts val="400"/>
              </a:spcBef>
              <a:defRPr sz="1600" b="1">
                <a:solidFill>
                  <a:srgbClr val="1B365D"/>
                </a:solidFill>
                <a:latin typeface="Arial"/>
              </a:defRPr>
            </a:pPr>
            <a:r>
              <a:t>Disciplinary Conduct Advisor</a:t>
            </a:r>
          </a:p>
          <a:p>
            <a:pPr>
              <a:spcBef>
                <a:spcPts val="1000"/>
              </a:spcBef>
              <a:defRPr sz="1300" b="0">
                <a:solidFill>
                  <a:srgbClr val="374151"/>
                </a:solidFill>
                <a:latin typeface="Arial"/>
              </a:defRPr>
            </a:pPr>
            <a:r>
              <a:t>Classifies infractions per handbook matrix.</a:t>
            </a:r>
            <a:br/>
            <a:r>
              <a:t>Prevents exaggerated penalties.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828800"/>
            <a:ext cx="32004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0" y="1828800"/>
            <a:ext cx="32004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Arial"/>
              </a:defRPr>
            </a:pPr>
            <a:r>
              <a:t>Prompt 3</a:t>
            </a:r>
          </a:p>
          <a:p>
            <a:pPr>
              <a:spcBef>
                <a:spcPts val="400"/>
              </a:spcBef>
              <a:defRPr sz="1600" b="1">
                <a:solidFill>
                  <a:srgbClr val="1B365D"/>
                </a:solidFill>
                <a:latin typeface="Arial"/>
              </a:defRPr>
            </a:pPr>
            <a:r>
              <a:t>Scholarship Eligibility Evaluator</a:t>
            </a:r>
          </a:p>
          <a:p>
            <a:pPr>
              <a:spcBef>
                <a:spcPts val="1000"/>
              </a:spcBef>
              <a:defRPr sz="1300" b="0">
                <a:solidFill>
                  <a:srgbClr val="374151"/>
                </a:solidFill>
                <a:latin typeface="Arial"/>
              </a:defRPr>
            </a:pPr>
            <a:r>
              <a:t>Exact GWA thresholds, no rounding.</a:t>
            </a:r>
            <a:br/>
            <a:r>
              <a:t>Strict numerical compliance.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  <a:latin typeface="Arial"/>
              </a:defRPr>
            </a:pPr>
            <a:r>
              <a:t>🛡️  Anti-Hallucination: Each prompt includes defensive fallback — off-topic or insufficient-context queries are refused with referral to OSAS/Registrar.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  <a:latin typeface="Arial"/>
              </a:defRPr>
            </a:pPr>
            <a:r>
              <a:t>Checkpoint 2 — Distance Metric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Arial"/>
              </a:defRPr>
            </a:pPr>
            <a:r>
              <a:t>Benchmark Results (3 queries across 119 chunks)</a:t>
            </a:r>
          </a:p>
          <a:p>
            <a:pPr>
              <a:spcBef>
                <a:spcPts val="600"/>
              </a:spcBef>
              <a:defRPr sz="400" b="0">
                <a:solidFill>
                  <a:srgbClr val="374151"/>
                </a:solidFill>
                <a:latin typeface="Arial"/>
              </a:defRPr>
            </a:pPr>
            <a:endParaRPr/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"Curfew hours?"          → Cosine: 0.7691  |  Euclidean: 0.6796  |  Dot Product: 0.7691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"Ripped jeans on campus?" → Cosine: 0.7540  |  Euclidean: 0.7015  |  Dot Product: 0.7540</a:t>
            </a:r>
          </a:p>
          <a:p>
            <a:pPr>
              <a:spcBef>
                <a:spcPts val="4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"Min GWA for GSIS STEM?"  → Cosine: 0.8151  |  Euclidean: 0.6081  |  Dot Product: 0.8151</a:t>
            </a:r>
          </a:p>
          <a:p>
            <a:pPr>
              <a:spcBef>
                <a:spcPts val="600"/>
              </a:spcBef>
              <a:defRPr sz="800" b="0">
                <a:solidFill>
                  <a:srgbClr val="374151"/>
                </a:solidFill>
                <a:latin typeface="Arial"/>
              </a:defRPr>
            </a:pPr>
            <a:endParaRPr/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  <a:latin typeface="Arial"/>
              </a:defRPr>
            </a:pPr>
            <a:r>
              <a:t>Key Finding</a:t>
            </a:r>
          </a:p>
          <a:p>
            <a:pPr>
              <a:spcBef>
                <a:spcPts val="400"/>
              </a:spcBef>
              <a:defRPr sz="1500">
                <a:solidFill>
                  <a:srgbClr val="374151"/>
                </a:solidFill>
                <a:latin typeface="Arial"/>
              </a:defRPr>
            </a:pPr>
            <a:r>
              <a:t>All 3 metrics produce identical rankings on L2-normalized vectors</a:t>
            </a:r>
          </a:p>
          <a:p>
            <a:pPr>
              <a:spcBef>
                <a:spcPts val="400"/>
              </a:spcBef>
              <a:defRPr sz="1500">
                <a:solidFill>
                  <a:srgbClr val="374151"/>
                </a:solidFill>
                <a:latin typeface="Arial"/>
              </a:defRPr>
            </a:pPr>
            <a:r>
              <a:t>Mathematical proof: d_L2 = √(2(1 − cos(θ))) → minimizing L2 = maximizing cosine</a:t>
            </a:r>
          </a:p>
          <a:p>
            <a:pPr>
              <a:spcBef>
                <a:spcPts val="600"/>
              </a:spcBef>
              <a:defRPr sz="400" b="0">
                <a:solidFill>
                  <a:srgbClr val="374151"/>
                </a:solidFill>
                <a:latin typeface="Arial"/>
              </a:defRPr>
            </a:pPr>
            <a:endParaRPr/>
          </a:p>
          <a:p>
            <a:pPr>
              <a:spcBef>
                <a:spcPts val="1000"/>
              </a:spcBef>
              <a:defRPr sz="1500" b="1">
                <a:solidFill>
                  <a:srgbClr val="16A34A"/>
                </a:solidFill>
                <a:latin typeface="Arial"/>
              </a:defRPr>
            </a:pPr>
            <a:r>
              <a:t>✅  Selected: Cosine Similarity — bounded [0, 1] scores enable intuitive confidence thresholding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BEAFE"/>
                </a:solidFill>
                <a:latin typeface="Arial"/>
              </a:defRPr>
            </a:pPr>
            <a:r>
              <a:rPr dirty="0"/>
              <a:t>🧑‍🎓  "What are the curfew hours for boarding houses near TPC?"</a:t>
            </a:r>
          </a:p>
          <a:p>
            <a:pPr>
              <a:spcBef>
                <a:spcPts val="600"/>
              </a:spcBef>
              <a:defRPr sz="1200" b="0">
                <a:solidFill>
                  <a:srgbClr val="374151"/>
                </a:solidFill>
                <a:latin typeface="Arial"/>
              </a:defRPr>
            </a:pPr>
            <a:endParaRPr dirty="0"/>
          </a:p>
          <a:p>
            <a:pPr>
              <a:spcBef>
                <a:spcPts val="1200"/>
              </a:spcBef>
              <a:defRPr sz="1400" b="0">
                <a:solidFill>
                  <a:srgbClr val="94A3B8"/>
                </a:solidFill>
                <a:latin typeface="Arial"/>
              </a:defRPr>
            </a:pPr>
            <a:r>
              <a:rPr dirty="0"/>
              <a:t>↓  bge-small-en-v1.5 encodes query → Pinecone retrieves Top-4 chunks → Confidence filter → Grounded answer</a:t>
            </a:r>
          </a:p>
          <a:p>
            <a:pPr>
              <a:spcBef>
                <a:spcPts val="600"/>
              </a:spcBef>
              <a:defRPr sz="1200" b="0">
                <a:solidFill>
                  <a:srgbClr val="374151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rPr dirty="0"/>
              <a:t>🤖  "According to [</a:t>
            </a:r>
            <a:r>
              <a:rPr dirty="0" err="1"/>
              <a:t>Talibon</a:t>
            </a:r>
            <a:r>
              <a:rPr dirty="0"/>
              <a:t> Municipal Ordinance No. 127], student curfew is</a:t>
            </a:r>
            <a:br>
              <a:rPr dirty="0"/>
            </a:br>
            <a:r>
              <a:rPr dirty="0"/>
              <a:t>10:00 PM (Sun–Thu) and 11:00 PM (Fri–Sat)."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560320"/>
            <a:ext cx="18288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TPoliCynav: The TPC Policy Navigator</a:t>
            </a:r>
            <a:br/>
            <a:r>
              <a:t>Team KUYS — IS Professional Elective #4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610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Christian La Rosa</cp:lastModifiedBy>
  <cp:revision>4</cp:revision>
  <dcterms:created xsi:type="dcterms:W3CDTF">2013-01-27T09:14:16Z</dcterms:created>
  <dcterms:modified xsi:type="dcterms:W3CDTF">2026-08-28T11:35:54Z</dcterms:modified>
  <cp:category/>
</cp:coreProperties>
</file>